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A646-2AD8-87E6-43D8-F9F431258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1A5EC-9FF6-310D-C87E-5A795F9E2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301EF-CD80-9BEF-4AFC-466DE079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5757A-A051-44C3-8DE8-D7DA12D8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BD4F-67EA-4413-905C-DD06FBB3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6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7D3B-0811-72C0-3EFB-9B4B951E0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1237-170F-4A50-C7D3-925B72F74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C4BB7-B60B-77DF-6D3B-575C78F8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85DC9-762C-CEC6-E93F-165B3270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969E2-B582-3432-4C1A-033245943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13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D1BC5-63BD-F555-FBBE-5F06390A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D42D7-E493-9E93-D861-A7918507C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62BE8-B381-EC02-4EBB-93619C25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37C92-F6B0-96EF-3A88-BF7972AB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2038-B759-603B-49FB-F3089944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13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2465-B381-B7BC-8F51-7684986B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0EADF-B647-4657-AC21-FD3B6012F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A55B5-8B4F-576E-2454-2F2A68547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61A78-3B8A-E644-8E9C-5B0838A3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353B6-F015-4FE4-8C44-4737F828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636B1-5BEE-AFD6-46FC-EFC595CD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537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E40D8-5C96-7AE3-8D50-94524E9F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2C923-690A-5515-B1CE-2631A478E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C9DF9-6B40-F58A-23C1-15E7A99F7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4F1A3-C0AE-B40F-4E97-388B8B1C6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6016F-87BE-F06E-4BAD-8FDB122A9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0D01DB-12C1-848A-FD36-7BF8CE1E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F59CC-EAB8-5065-043B-3058DB76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A4608-B30E-999C-4FA0-58E220B8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38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D29E-E3CF-C07C-0063-02294C46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799E3-EE5F-EC30-7964-5606A3101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8E866-8338-C040-E62F-F960A5B9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8D262-DBAC-199C-72B4-E80D6F63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67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9C9D-8C68-3D82-B380-E4B5D980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F13FD3-322F-7A17-8C6C-35E4F079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EFBE4-8752-08EA-8D01-49835180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44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3DD4-45F4-FEEE-E2E8-D020CAF3D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3DC0D-7AB5-D460-7347-65508C0A1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32D0A-9055-2BED-2113-61ADD07FB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D9B42-64E2-D2B3-4788-6C26B409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63258-DE03-BA0E-4BF5-BC251984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E6EA6-D41D-DA1A-9D68-0B258ECD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9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AED4-71B4-D69D-01B2-003E3188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A2CCD-3EA8-C3D5-845B-6A27F06A0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9DFFA-8FE4-ECB1-B7D3-0827871EF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7359A-D2CD-4539-CB3B-74F9D188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228B4-F207-7661-141D-90274982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630A7-E787-4046-87EC-7FB5DAE1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13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ECBF-357D-0DAD-E009-A2037ECB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48468-F1AE-45BF-DB71-755126611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D50FB-F4DE-11A6-723D-ADA0F02D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351FF-7BB1-D229-F55F-F516F9BF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458D9-654F-BDC7-39DB-782ED51F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17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19D7B-36E6-4AAD-BD08-D86A4FF30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B6DCB-1F40-0203-8E0F-A25EAACA6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B8DCA-CAF3-A107-5EAD-E7D0456D2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19BA2-80B4-4267-270D-86CAAC96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D5E9-DC2F-0FE4-4B64-A9BA07201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9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C1E1F-082F-24C5-7FBA-8B5222EA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F687-163F-6B73-EDBD-1A9F5FD0D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61C38-6D60-CCD9-1406-CBBE5A4C1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7DD51-3262-4DF7-A2D7-84D5CD78CB1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3AD95-18BF-FB31-407F-8A7AF79CF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74DE-1182-6410-F99A-A9C09CEFE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05688-BD2B-4AC3-BB11-7F714B896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23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hyperlink" Target="https://freesvg.org/line-art-vector-clip-art-of-laptop-personal-computer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hyperlink" Target="https://www.tuktukdesign.com/login-icon/" TargetMode="External"/><Relationship Id="rId10" Type="http://schemas.openxmlformats.org/officeDocument/2006/relationships/image" Target="../media/image7.svg"/><Relationship Id="rId4" Type="http://schemas.openxmlformats.org/officeDocument/2006/relationships/image" Target="../media/image2.jp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5F28DB-9160-8A40-D39D-7FB159D18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40215" y="3340021"/>
            <a:ext cx="1216915" cy="12169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EC896D-61D4-2ED6-4EEC-4924874DFC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269165" y="749662"/>
            <a:ext cx="829560" cy="761064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AC8F7BB-77CA-BA4E-BB9F-5078AA7DB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378" y="2541405"/>
            <a:ext cx="2108485" cy="159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A0A5F7-357E-A436-B498-655102658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050" y="4015819"/>
            <a:ext cx="2109911" cy="85049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E27273-D71B-5C59-E110-755AFC229AC8}"/>
              </a:ext>
            </a:extLst>
          </p:cNvPr>
          <p:cNvCxnSpPr>
            <a:cxnSpLocks/>
          </p:cNvCxnSpPr>
          <p:nvPr/>
        </p:nvCxnSpPr>
        <p:spPr>
          <a:xfrm>
            <a:off x="2384982" y="3948478"/>
            <a:ext cx="69346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D720D12-2966-5905-B789-C841D73AE857}"/>
              </a:ext>
            </a:extLst>
          </p:cNvPr>
          <p:cNvSpPr/>
          <p:nvPr/>
        </p:nvSpPr>
        <p:spPr>
          <a:xfrm>
            <a:off x="3078442" y="2605743"/>
            <a:ext cx="2658359" cy="28698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6E075C-408E-53D1-384C-BD001044E66C}"/>
              </a:ext>
            </a:extLst>
          </p:cNvPr>
          <p:cNvSpPr txBox="1"/>
          <p:nvPr/>
        </p:nvSpPr>
        <p:spPr>
          <a:xfrm>
            <a:off x="3242821" y="5198593"/>
            <a:ext cx="2658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Rule Engine powered by </a:t>
            </a:r>
            <a:r>
              <a:rPr lang="en-GB" sz="1200" b="1" dirty="0" err="1"/>
              <a:t>deepseek</a:t>
            </a:r>
            <a:endParaRPr lang="en-IN" sz="12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26AA52-6834-9464-3808-E47C994FC922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2301712" y="1126467"/>
            <a:ext cx="1163362" cy="372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866ED08B-05CE-7621-021F-001F3FD511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5074" y="463137"/>
            <a:ext cx="1012658" cy="1326660"/>
          </a:xfrm>
          <a:prstGeom prst="rect">
            <a:avLst/>
          </a:prstGeom>
        </p:spPr>
      </p:pic>
      <p:pic>
        <p:nvPicPr>
          <p:cNvPr id="36" name="Graphic 35" descr="Database">
            <a:extLst>
              <a:ext uri="{FF2B5EF4-FFF2-40B4-BE49-F238E27FC236}">
                <a16:creationId xmlns:a16="http://schemas.microsoft.com/office/drawing/2014/main" id="{92C943B1-0561-6254-C8B0-419E9D1502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9658" y="5689076"/>
            <a:ext cx="1516144" cy="9144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5C233DD-1FE6-246B-B45F-0823689F39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8113" y="3217312"/>
            <a:ext cx="2039235" cy="1842647"/>
          </a:xfrm>
          <a:prstGeom prst="rect">
            <a:avLst/>
          </a:prstGeom>
        </p:spPr>
      </p:pic>
      <p:pic>
        <p:nvPicPr>
          <p:cNvPr id="40" name="Graphic 39" descr="Presentation with pie chart">
            <a:extLst>
              <a:ext uri="{FF2B5EF4-FFF2-40B4-BE49-F238E27FC236}">
                <a16:creationId xmlns:a16="http://schemas.microsoft.com/office/drawing/2014/main" id="{3775CD5A-9FCC-7B4E-3A3C-5E905A0FBB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40366" y="1691343"/>
            <a:ext cx="914400" cy="914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5C44463-F2A9-D283-13B1-6C953269FE9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67778" y="4154056"/>
            <a:ext cx="1531753" cy="1577477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0B938D8-67D3-73A7-488B-6BA566D201B7}"/>
              </a:ext>
            </a:extLst>
          </p:cNvPr>
          <p:cNvCxnSpPr/>
          <p:nvPr/>
        </p:nvCxnSpPr>
        <p:spPr>
          <a:xfrm>
            <a:off x="4666268" y="1126467"/>
            <a:ext cx="79559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A899D86-905A-5587-0B94-FFEA32C4FCCF}"/>
              </a:ext>
            </a:extLst>
          </p:cNvPr>
          <p:cNvCxnSpPr/>
          <p:nvPr/>
        </p:nvCxnSpPr>
        <p:spPr>
          <a:xfrm>
            <a:off x="5461863" y="1126467"/>
            <a:ext cx="0" cy="14149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19BE419-9FD8-B410-FE61-E69517CB6F1A}"/>
              </a:ext>
            </a:extLst>
          </p:cNvPr>
          <p:cNvCxnSpPr>
            <a:cxnSpLocks/>
          </p:cNvCxnSpPr>
          <p:nvPr/>
        </p:nvCxnSpPr>
        <p:spPr>
          <a:xfrm>
            <a:off x="5736801" y="3948478"/>
            <a:ext cx="82131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63A2B5D-2BFD-ACF0-EF9A-3A333D595C12}"/>
              </a:ext>
            </a:extLst>
          </p:cNvPr>
          <p:cNvCxnSpPr>
            <a:cxnSpLocks/>
            <a:stCxn id="36" idx="0"/>
            <a:endCxn id="38" idx="2"/>
          </p:cNvCxnSpPr>
          <p:nvPr/>
        </p:nvCxnSpPr>
        <p:spPr>
          <a:xfrm flipV="1">
            <a:off x="7577730" y="5059959"/>
            <a:ext cx="1" cy="629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C98D8E9-D0B5-B1D5-D5B4-61EA0C6187AA}"/>
              </a:ext>
            </a:extLst>
          </p:cNvPr>
          <p:cNvCxnSpPr>
            <a:cxnSpLocks/>
          </p:cNvCxnSpPr>
          <p:nvPr/>
        </p:nvCxnSpPr>
        <p:spPr>
          <a:xfrm>
            <a:off x="8597348" y="4040885"/>
            <a:ext cx="113111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61AA12DE-CA46-BCAF-51D6-D3A57F5BB762}"/>
              </a:ext>
            </a:extLst>
          </p:cNvPr>
          <p:cNvSpPr/>
          <p:nvPr/>
        </p:nvSpPr>
        <p:spPr>
          <a:xfrm>
            <a:off x="9728462" y="1126467"/>
            <a:ext cx="2224726" cy="499152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8CC480-16B0-1C90-988D-B7100F0A197D}"/>
              </a:ext>
            </a:extLst>
          </p:cNvPr>
          <p:cNvSpPr txBox="1"/>
          <p:nvPr/>
        </p:nvSpPr>
        <p:spPr>
          <a:xfrm>
            <a:off x="1195264" y="1510727"/>
            <a:ext cx="110644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Manager </a:t>
            </a:r>
            <a:endParaRPr lang="en-IN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8147413E-8328-6AA1-2047-1C5685FD6096}"/>
              </a:ext>
            </a:extLst>
          </p:cNvPr>
          <p:cNvSpPr txBox="1"/>
          <p:nvPr/>
        </p:nvSpPr>
        <p:spPr>
          <a:xfrm>
            <a:off x="1115731" y="4598588"/>
            <a:ext cx="831598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Admin </a:t>
            </a:r>
            <a:endParaRPr lang="en-IN" dirty="0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2EDEC03E-AF1D-5C38-2D02-07E421D3E973}"/>
              </a:ext>
            </a:extLst>
          </p:cNvPr>
          <p:cNvSpPr txBox="1"/>
          <p:nvPr/>
        </p:nvSpPr>
        <p:spPr>
          <a:xfrm>
            <a:off x="3430812" y="1796599"/>
            <a:ext cx="17250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Patient details</a:t>
            </a:r>
            <a:endParaRPr lang="en-IN" sz="1400" dirty="0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D2977E2C-EE77-DD4F-42E7-763FE22B1913}"/>
              </a:ext>
            </a:extLst>
          </p:cNvPr>
          <p:cNvSpPr txBox="1"/>
          <p:nvPr/>
        </p:nvSpPr>
        <p:spPr>
          <a:xfrm>
            <a:off x="6976862" y="6516641"/>
            <a:ext cx="17250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 err="1"/>
              <a:t>DataWarehouse</a:t>
            </a:r>
            <a:endParaRPr lang="en-IN" sz="1400" dirty="0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B0821E7E-8AC6-6B48-7914-E5C89CE9CC0B}"/>
              </a:ext>
            </a:extLst>
          </p:cNvPr>
          <p:cNvSpPr txBox="1"/>
          <p:nvPr/>
        </p:nvSpPr>
        <p:spPr>
          <a:xfrm>
            <a:off x="10193217" y="1322012"/>
            <a:ext cx="143680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Dashboards</a:t>
            </a:r>
            <a:endParaRPr lang="en-IN" b="1" dirty="0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271ECE4F-E10E-5C8D-773C-65A5D29F4BF4}"/>
              </a:ext>
            </a:extLst>
          </p:cNvPr>
          <p:cNvSpPr txBox="1"/>
          <p:nvPr/>
        </p:nvSpPr>
        <p:spPr>
          <a:xfrm>
            <a:off x="10215250" y="3646487"/>
            <a:ext cx="122427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AI Insights</a:t>
            </a:r>
            <a:endParaRPr lang="en-IN" b="1" dirty="0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CA10956A-7BBE-7D24-C127-35426DF06DE7}"/>
              </a:ext>
            </a:extLst>
          </p:cNvPr>
          <p:cNvSpPr txBox="1"/>
          <p:nvPr/>
        </p:nvSpPr>
        <p:spPr>
          <a:xfrm>
            <a:off x="352425" y="152400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Technical Architecture Diagram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684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9BE30B-0AA5-D54B-817E-EB39F888B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51" y="1584503"/>
            <a:ext cx="8390347" cy="52734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7D1BBD-F2C6-C8D5-6E27-05DF4944EE96}"/>
              </a:ext>
            </a:extLst>
          </p:cNvPr>
          <p:cNvSpPr txBox="1"/>
          <p:nvPr/>
        </p:nvSpPr>
        <p:spPr>
          <a:xfrm>
            <a:off x="304800" y="190500"/>
            <a:ext cx="616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Patient Segmentation Data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732DA-8948-B9A8-F118-BB3B2B667D22}"/>
              </a:ext>
            </a:extLst>
          </p:cNvPr>
          <p:cNvSpPr txBox="1"/>
          <p:nvPr/>
        </p:nvSpPr>
        <p:spPr>
          <a:xfrm>
            <a:off x="847725" y="666750"/>
            <a:ext cx="10191750" cy="91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Light SemiConde" panose="020B0502040204020203" pitchFamily="34" charset="0"/>
              </a:rPr>
              <a:t>This model supports a rule-based patient segmentation system where patient vitals are evaluated against predefined medical rules. Supporting tables such as doctors and wards provide additional context for clinical decision-making and triage prioritization.</a:t>
            </a:r>
            <a:endParaRPr lang="en-IN" dirty="0"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599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Bahnschrift SemiLight SemiConde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Cheekati</dc:creator>
  <cp:lastModifiedBy>Ashok Cheekati</cp:lastModifiedBy>
  <cp:revision>1</cp:revision>
  <dcterms:created xsi:type="dcterms:W3CDTF">2026-03-06T05:29:45Z</dcterms:created>
  <dcterms:modified xsi:type="dcterms:W3CDTF">2026-03-06T05:31:47Z</dcterms:modified>
</cp:coreProperties>
</file>